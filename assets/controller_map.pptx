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870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F21924-34B1-8281-C9B3-FC3C6A07EBE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52E56536-0C3A-BA79-F62E-8174FA4C488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7777B16-8A47-B42D-37F0-E6044EDF4F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39DAA-DD6E-4AD3-AD34-68D86F47C519}" type="datetimeFigureOut">
              <a:rPr kumimoji="1" lang="ja-JP" altLang="en-US" smtClean="0"/>
              <a:t>2026/10/27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448FF46-2ABB-395D-ABB8-960089DA36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45CBCEF-440E-AB80-3B9B-9B93CB96A1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2E114-EDA7-4EE1-964C-60D2EE68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323295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7320E37-35BA-6BB0-9C38-6BCAF79DF8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7471DF30-B27C-B927-7159-6C93B7B4FC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56C70B5-B9B1-D3A4-9FA5-F9A1F5B6B6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39DAA-DD6E-4AD3-AD34-68D86F47C519}" type="datetimeFigureOut">
              <a:rPr kumimoji="1" lang="ja-JP" altLang="en-US" smtClean="0"/>
              <a:t>2026/10/27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D47E63F-B826-BF42-DD01-9CC89A2B1C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FDEFB30-9652-5609-096C-70804A1171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2E114-EDA7-4EE1-964C-60D2EE68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279610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A11F870-7FD3-8910-C9E3-993EA77190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957D684-2776-144E-D683-A24A34114D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A6DA4B8-99BD-0F25-9F19-98FDD387AE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39DAA-DD6E-4AD3-AD34-68D86F47C519}" type="datetimeFigureOut">
              <a:rPr kumimoji="1" lang="ja-JP" altLang="en-US" smtClean="0"/>
              <a:t>2026/10/27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0A2C309-47E9-8D13-22BE-DB401BAEA9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BCA9589-4DF6-CC85-7B36-1D8AB22955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2E114-EDA7-4EE1-964C-60D2EE68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06607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C80C9D6-6B9D-5E5C-9DF4-3B10E3BA01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38421F1-5747-8BDD-6E38-E4E486C3CCC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027FB7A4-90E1-C784-CF4C-F40170EE3EE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91E2A83-B216-79BF-A85B-3E8F62EA1D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39DAA-DD6E-4AD3-AD34-68D86F47C519}" type="datetimeFigureOut">
              <a:rPr kumimoji="1" lang="ja-JP" altLang="en-US" smtClean="0"/>
              <a:t>2026/10/27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D770794C-8F33-ED92-6D75-AE8BCB8135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2591D6E-4A9F-1E67-F553-C5AD6A3643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2E114-EDA7-4EE1-964C-60D2EE68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49120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6D9C90C-E3CC-3B4C-E5C7-519763B152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4E1C44E3-BF29-EE69-09FB-363DF51972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EFE9AFE-BCDD-5019-C97C-780118E98A2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BB23B7F7-3BC9-C8E0-723A-51F2ADF9826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74D1E517-BAEF-611F-3308-3598502C368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270D9148-AB0A-A4FA-DE9F-EF174D912F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39DAA-DD6E-4AD3-AD34-68D86F47C519}" type="datetimeFigureOut">
              <a:rPr kumimoji="1" lang="ja-JP" altLang="en-US" smtClean="0"/>
              <a:t>2026/10/27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05896B8D-DCD9-1C88-8811-19B4F25BB5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A698F9C-4F7B-1A76-5A35-7423356C44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2E114-EDA7-4EE1-964C-60D2EE68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491600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4ED5804-7102-CCA6-106E-A06D2F2987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ABA6DCCE-4CB5-2E75-1DCB-2E79D83A97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39DAA-DD6E-4AD3-AD34-68D86F47C519}" type="datetimeFigureOut">
              <a:rPr kumimoji="1" lang="ja-JP" altLang="en-US" smtClean="0"/>
              <a:t>2026/10/27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4F70B703-E06C-B5B3-3D6C-A8FF9FC8A1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658EB3B8-2140-BA7D-D991-2C93178F7E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2E114-EDA7-4EE1-964C-60D2EE68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544420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4B62BA9F-4BBE-957D-A085-F5853E76E9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39DAA-DD6E-4AD3-AD34-68D86F47C519}" type="datetimeFigureOut">
              <a:rPr kumimoji="1" lang="ja-JP" altLang="en-US" smtClean="0"/>
              <a:t>2026/10/27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B0CB367F-C65B-D635-771C-0FD77F23E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F92FA3E-D2C1-50E4-3933-FDAE59D6CE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2E114-EDA7-4EE1-964C-60D2EE68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659725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23AB483-A73E-A20C-5EC3-4EA3A40FBC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CE93EF6-6257-AD54-998A-19FEA1812B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70D5B6A-99A0-E98A-146D-5F386D83B07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52647B90-A08B-F3AC-D42B-853A3B94B8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39DAA-DD6E-4AD3-AD34-68D86F47C519}" type="datetimeFigureOut">
              <a:rPr kumimoji="1" lang="ja-JP" altLang="en-US" smtClean="0"/>
              <a:t>2026/10/27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704CD063-C95C-1C9D-CD3D-8C35FC3233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BD8BB603-C4DE-2E2C-182A-651951EA95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2E114-EDA7-4EE1-964C-60D2EE68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257152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3EB7345-C7A5-E34F-4FFC-BBBDD35D83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2EFD34B4-0251-38C3-6DD8-805C5040F0EA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A77C8950-FEA4-D66B-50F9-389D2D3244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CC806BB-138D-31F8-5F2F-EF5DA43837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39DAA-DD6E-4AD3-AD34-68D86F47C519}" type="datetimeFigureOut">
              <a:rPr kumimoji="1" lang="ja-JP" altLang="en-US" smtClean="0"/>
              <a:t>2026/10/27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2723AA86-DBAB-C117-E3D3-A2712DBA3F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B698B7A9-CDEF-EAEF-6B5D-898FCDCC48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2E114-EDA7-4EE1-964C-60D2EE68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828112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ED3FEC4-97D5-4556-9981-9186017E72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FC2A7CDF-00D0-A178-8F06-0F3CFA48BBD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BE325D6-567C-5668-1CED-C6D149E09C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39DAA-DD6E-4AD3-AD34-68D86F47C519}" type="datetimeFigureOut">
              <a:rPr kumimoji="1" lang="ja-JP" altLang="en-US" smtClean="0"/>
              <a:t>2026/10/27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563EB70-E873-48F5-6277-42DDC12585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9F261AE-00C7-744D-AE6F-56C2DD337E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2E114-EDA7-4EE1-964C-60D2EE68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180508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5F8E4A76-4A5D-F8BB-3632-7DADBB41757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F8F02EF6-CFBD-4150-EB24-7F9E39517E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1DBBC8C-A418-F7BA-7295-77469FF676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39DAA-DD6E-4AD3-AD34-68D86F47C519}" type="datetimeFigureOut">
              <a:rPr kumimoji="1" lang="ja-JP" altLang="en-US" smtClean="0"/>
              <a:t>2026/10/27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BF12B54-0240-1EC4-C47D-29ADDC41C1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1831B59-2119-5997-3CFD-D31CB38178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2E114-EDA7-4EE1-964C-60D2EE68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49328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334C709D-4EB4-4649-0C7A-E3BA38F528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03CAB7DD-643B-AB55-7FF5-342081E10F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0FF228C-1859-8526-3FE5-4DDEE13CDE6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F439DAA-DD6E-4AD3-AD34-68D86F47C519}" type="datetimeFigureOut">
              <a:rPr kumimoji="1" lang="ja-JP" altLang="en-US" smtClean="0"/>
              <a:t>2026/10/27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BE5AB23-A01E-ED27-D04C-5FB29B06BBA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A9BD704-BA73-EFFC-3F92-25F7B2008F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072E114-EDA7-4EE1-964C-60D2EE68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080789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3A1DC25-BC4F-EC72-10A0-F24A45577CC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kumimoji="1" lang="en-US" altLang="ja-JP" dirty="0"/>
              <a:t>Controller map</a:t>
            </a:r>
            <a:br>
              <a:rPr kumimoji="1" lang="en-US" altLang="ja-JP" dirty="0"/>
            </a:br>
            <a:r>
              <a:rPr kumimoji="1" lang="en-US" altLang="ja-JP" dirty="0"/>
              <a:t>ROBOBIKE</a:t>
            </a:r>
            <a:endParaRPr kumimoji="1" lang="ja-JP" altLang="en-US" dirty="0"/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B43A6C72-B8A2-7804-6488-F7EEE1EF466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kumimoji="1" lang="en-US" altLang="ja-JP" dirty="0"/>
              <a:t>2026/10/27</a:t>
            </a:r>
          </a:p>
          <a:p>
            <a:r>
              <a:rPr lang="en-US" altLang="ja-JP" dirty="0" err="1"/>
              <a:t>tontonton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5228123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CEFA1C1E-1628-9AE6-DFC4-908EA6FDCD9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42865" y="581891"/>
            <a:ext cx="2835695" cy="6128327"/>
          </a:xfrm>
          <a:prstGeom prst="rect">
            <a:avLst/>
          </a:prstGeom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B7442246-AA47-231B-74AB-162C2D78BF0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11671" y="581891"/>
            <a:ext cx="2802097" cy="6128328"/>
          </a:xfrm>
          <a:prstGeom prst="rect">
            <a:avLst/>
          </a:prstGeom>
        </p:spPr>
      </p:pic>
      <p:sp>
        <p:nvSpPr>
          <p:cNvPr id="7" name="吹き出し: 四角形 6">
            <a:extLst>
              <a:ext uri="{FF2B5EF4-FFF2-40B4-BE49-F238E27FC236}">
                <a16:creationId xmlns:a16="http://schemas.microsoft.com/office/drawing/2014/main" id="{ECFD9204-9EDA-C38D-66CE-B7F35A4AC76D}"/>
              </a:ext>
            </a:extLst>
          </p:cNvPr>
          <p:cNvSpPr/>
          <p:nvPr/>
        </p:nvSpPr>
        <p:spPr>
          <a:xfrm>
            <a:off x="646548" y="2170546"/>
            <a:ext cx="711200" cy="612648"/>
          </a:xfrm>
          <a:prstGeom prst="wedgeRectCallout">
            <a:avLst>
              <a:gd name="adj1" fmla="val 88258"/>
              <a:gd name="adj2" fmla="val 41393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ja-JP" sz="1050" dirty="0" err="1"/>
              <a:t>b</a:t>
            </a:r>
            <a:r>
              <a:rPr kumimoji="1" lang="en-US" altLang="ja-JP" sz="1050" dirty="0" err="1"/>
              <a:t>t_L</a:t>
            </a:r>
            <a:endParaRPr kumimoji="1" lang="en-US" altLang="ja-JP" sz="1050" dirty="0"/>
          </a:p>
          <a:p>
            <a:pPr algn="ctr"/>
            <a:r>
              <a:rPr lang="en-US" altLang="ja-JP" sz="1050" dirty="0"/>
              <a:t>5</a:t>
            </a:r>
          </a:p>
          <a:p>
            <a:pPr algn="ctr"/>
            <a:r>
              <a:rPr kumimoji="1" lang="ja-JP" altLang="en-US" sz="1050" dirty="0"/>
              <a:t>左一杯</a:t>
            </a:r>
          </a:p>
        </p:txBody>
      </p:sp>
      <p:sp>
        <p:nvSpPr>
          <p:cNvPr id="9" name="吹き出し: 四角形 8">
            <a:extLst>
              <a:ext uri="{FF2B5EF4-FFF2-40B4-BE49-F238E27FC236}">
                <a16:creationId xmlns:a16="http://schemas.microsoft.com/office/drawing/2014/main" id="{E06FD7E1-05C8-F0AE-A9AA-77D4115ED98E}"/>
              </a:ext>
            </a:extLst>
          </p:cNvPr>
          <p:cNvSpPr/>
          <p:nvPr/>
        </p:nvSpPr>
        <p:spPr>
          <a:xfrm>
            <a:off x="2013530" y="1557898"/>
            <a:ext cx="847182" cy="612648"/>
          </a:xfrm>
          <a:prstGeom prst="wedgeRectCallout">
            <a:avLst>
              <a:gd name="adj1" fmla="val 47998"/>
              <a:gd name="adj2" fmla="val 80591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ja-JP" sz="1050" dirty="0" err="1"/>
              <a:t>b</a:t>
            </a:r>
            <a:r>
              <a:rPr kumimoji="1" lang="en-US" altLang="ja-JP" sz="1050" dirty="0" err="1"/>
              <a:t>t_F</a:t>
            </a:r>
            <a:endParaRPr kumimoji="1" lang="en-US" altLang="ja-JP" sz="1050" dirty="0"/>
          </a:p>
          <a:p>
            <a:pPr algn="ctr"/>
            <a:r>
              <a:rPr lang="en-US" altLang="ja-JP" sz="1050" dirty="0"/>
              <a:t>3</a:t>
            </a:r>
          </a:p>
          <a:p>
            <a:pPr algn="ctr"/>
            <a:r>
              <a:rPr kumimoji="1" lang="en-US" altLang="ja-JP" sz="1050" dirty="0"/>
              <a:t>10</a:t>
            </a:r>
            <a:r>
              <a:rPr kumimoji="1" lang="ja-JP" altLang="en-US" sz="1050" dirty="0"/>
              <a:t>秒直進</a:t>
            </a:r>
          </a:p>
        </p:txBody>
      </p:sp>
      <p:sp>
        <p:nvSpPr>
          <p:cNvPr id="11" name="吹き出し: 四角形 10">
            <a:extLst>
              <a:ext uri="{FF2B5EF4-FFF2-40B4-BE49-F238E27FC236}">
                <a16:creationId xmlns:a16="http://schemas.microsoft.com/office/drawing/2014/main" id="{914D00A6-A04F-2E2A-EEC7-1D1C7EE3FD29}"/>
              </a:ext>
            </a:extLst>
          </p:cNvPr>
          <p:cNvSpPr/>
          <p:nvPr/>
        </p:nvSpPr>
        <p:spPr>
          <a:xfrm>
            <a:off x="4008716" y="1557898"/>
            <a:ext cx="847182" cy="612648"/>
          </a:xfrm>
          <a:prstGeom prst="wedgeRectCallout">
            <a:avLst>
              <a:gd name="adj1" fmla="val -34861"/>
              <a:gd name="adj2" fmla="val 8812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ja-JP" sz="1050" dirty="0" err="1"/>
              <a:t>b</a:t>
            </a:r>
            <a:r>
              <a:rPr kumimoji="1" lang="en-US" altLang="ja-JP" sz="1050" dirty="0" err="1"/>
              <a:t>t_R</a:t>
            </a:r>
            <a:endParaRPr kumimoji="1" lang="en-US" altLang="ja-JP" sz="1050" dirty="0"/>
          </a:p>
          <a:p>
            <a:pPr algn="ctr"/>
            <a:r>
              <a:rPr lang="en-US" altLang="ja-JP" sz="1050" dirty="0"/>
              <a:t>6</a:t>
            </a:r>
          </a:p>
          <a:p>
            <a:pPr algn="ctr"/>
            <a:r>
              <a:rPr kumimoji="1" lang="ja-JP" altLang="en-US" sz="1050" dirty="0"/>
              <a:t>右一杯</a:t>
            </a:r>
          </a:p>
        </p:txBody>
      </p:sp>
      <p:sp>
        <p:nvSpPr>
          <p:cNvPr id="13" name="吹き出し: 四角形 12">
            <a:extLst>
              <a:ext uri="{FF2B5EF4-FFF2-40B4-BE49-F238E27FC236}">
                <a16:creationId xmlns:a16="http://schemas.microsoft.com/office/drawing/2014/main" id="{FC1C39AB-518B-22BE-BA7F-289C987265CC}"/>
              </a:ext>
            </a:extLst>
          </p:cNvPr>
          <p:cNvSpPr/>
          <p:nvPr/>
        </p:nvSpPr>
        <p:spPr>
          <a:xfrm>
            <a:off x="1357748" y="3646054"/>
            <a:ext cx="711200" cy="612648"/>
          </a:xfrm>
          <a:prstGeom prst="wedgeRectCallout">
            <a:avLst>
              <a:gd name="adj1" fmla="val 119427"/>
              <a:gd name="adj2" fmla="val 68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ja-JP" sz="1050" dirty="0" err="1"/>
              <a:t>b</a:t>
            </a:r>
            <a:r>
              <a:rPr kumimoji="1" lang="en-US" altLang="ja-JP" sz="1050" dirty="0" err="1"/>
              <a:t>t_S</a:t>
            </a:r>
            <a:endParaRPr kumimoji="1" lang="en-US" altLang="ja-JP" sz="1050" dirty="0"/>
          </a:p>
          <a:p>
            <a:pPr algn="ctr"/>
            <a:r>
              <a:rPr lang="en-US" altLang="ja-JP" sz="1050" dirty="0"/>
              <a:t>4</a:t>
            </a:r>
          </a:p>
          <a:p>
            <a:pPr algn="ctr"/>
            <a:r>
              <a:rPr lang="ja-JP" altLang="en-US" sz="1050" dirty="0"/>
              <a:t>停止</a:t>
            </a:r>
            <a:endParaRPr kumimoji="1" lang="ja-JP" altLang="en-US" sz="1050" dirty="0"/>
          </a:p>
        </p:txBody>
      </p:sp>
      <p:sp>
        <p:nvSpPr>
          <p:cNvPr id="15" name="吹き出し: 四角形 14">
            <a:extLst>
              <a:ext uri="{FF2B5EF4-FFF2-40B4-BE49-F238E27FC236}">
                <a16:creationId xmlns:a16="http://schemas.microsoft.com/office/drawing/2014/main" id="{4BC012CC-332D-6957-CAFB-C7C56632CA26}"/>
              </a:ext>
            </a:extLst>
          </p:cNvPr>
          <p:cNvSpPr/>
          <p:nvPr/>
        </p:nvSpPr>
        <p:spPr>
          <a:xfrm>
            <a:off x="3500429" y="3952378"/>
            <a:ext cx="863248" cy="612648"/>
          </a:xfrm>
          <a:prstGeom prst="wedgeRectCallout">
            <a:avLst>
              <a:gd name="adj1" fmla="val -93560"/>
              <a:gd name="adj2" fmla="val 26316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ja-JP" sz="1050" dirty="0" err="1"/>
              <a:t>b</a:t>
            </a:r>
            <a:r>
              <a:rPr kumimoji="1" lang="en-US" altLang="ja-JP" sz="1050" dirty="0" err="1"/>
              <a:t>t_</a:t>
            </a:r>
            <a:r>
              <a:rPr lang="en-US" altLang="ja-JP" sz="1050" dirty="0" err="1"/>
              <a:t>BK</a:t>
            </a:r>
            <a:endParaRPr kumimoji="1" lang="en-US" altLang="ja-JP" sz="1050" dirty="0"/>
          </a:p>
          <a:p>
            <a:pPr algn="ctr"/>
            <a:r>
              <a:rPr lang="en-US" altLang="ja-JP" sz="1050" dirty="0"/>
              <a:t>8</a:t>
            </a:r>
          </a:p>
          <a:p>
            <a:pPr algn="ctr"/>
            <a:r>
              <a:rPr kumimoji="1" lang="ja-JP" altLang="en-US" sz="1050" dirty="0"/>
              <a:t>連続後進</a:t>
            </a:r>
          </a:p>
        </p:txBody>
      </p:sp>
      <p:sp>
        <p:nvSpPr>
          <p:cNvPr id="17" name="吹き出し: 四角形 16">
            <a:extLst>
              <a:ext uri="{FF2B5EF4-FFF2-40B4-BE49-F238E27FC236}">
                <a16:creationId xmlns:a16="http://schemas.microsoft.com/office/drawing/2014/main" id="{D1DCD0B5-DD67-5A1B-0C01-9EB894916B85}"/>
              </a:ext>
            </a:extLst>
          </p:cNvPr>
          <p:cNvSpPr/>
          <p:nvPr/>
        </p:nvSpPr>
        <p:spPr>
          <a:xfrm>
            <a:off x="984685" y="5446544"/>
            <a:ext cx="1303594" cy="718496"/>
          </a:xfrm>
          <a:prstGeom prst="wedgeRectCallout">
            <a:avLst>
              <a:gd name="adj1" fmla="val 53614"/>
              <a:gd name="adj2" fmla="val -82031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ja-JP" sz="1050" dirty="0"/>
              <a:t>b</a:t>
            </a:r>
            <a:r>
              <a:rPr kumimoji="1" lang="en-US" altLang="ja-JP" sz="1050" dirty="0"/>
              <a:t>t_A_Up_0</a:t>
            </a:r>
          </a:p>
          <a:p>
            <a:pPr algn="ctr"/>
            <a:r>
              <a:rPr lang="en-US" altLang="ja-JP" sz="1050" dirty="0"/>
              <a:t>9</a:t>
            </a:r>
          </a:p>
          <a:p>
            <a:pPr algn="ctr"/>
            <a:r>
              <a:rPr lang="ja-JP" altLang="en-US" sz="1050" dirty="0"/>
              <a:t>モータ速度</a:t>
            </a:r>
            <a:r>
              <a:rPr lang="en-US" altLang="ja-JP" sz="1050" dirty="0"/>
              <a:t>+1</a:t>
            </a:r>
          </a:p>
          <a:p>
            <a:pPr algn="ctr"/>
            <a:r>
              <a:rPr lang="en-US" altLang="ja-JP" sz="1050" dirty="0"/>
              <a:t>m</a:t>
            </a:r>
            <a:r>
              <a:rPr kumimoji="1" lang="en-US" altLang="ja-JP" sz="1050" dirty="0"/>
              <a:t>ot_spd+1</a:t>
            </a:r>
          </a:p>
        </p:txBody>
      </p:sp>
      <p:sp>
        <p:nvSpPr>
          <p:cNvPr id="19" name="吹き出し: 四角形 18">
            <a:extLst>
              <a:ext uri="{FF2B5EF4-FFF2-40B4-BE49-F238E27FC236}">
                <a16:creationId xmlns:a16="http://schemas.microsoft.com/office/drawing/2014/main" id="{1ECAE5A6-163A-B8E0-B20D-01AC57EE6353}"/>
              </a:ext>
            </a:extLst>
          </p:cNvPr>
          <p:cNvSpPr/>
          <p:nvPr/>
        </p:nvSpPr>
        <p:spPr>
          <a:xfrm>
            <a:off x="-517234" y="3095151"/>
            <a:ext cx="1647096" cy="1032764"/>
          </a:xfrm>
          <a:prstGeom prst="wedgeRectCallout">
            <a:avLst>
              <a:gd name="adj1" fmla="val 95777"/>
              <a:gd name="adj2" fmla="val -34411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ja-JP" sz="1050" dirty="0" err="1"/>
              <a:t>b</a:t>
            </a:r>
            <a:r>
              <a:rPr kumimoji="1" lang="en-US" altLang="ja-JP" sz="1050" dirty="0" err="1"/>
              <a:t>t_</a:t>
            </a:r>
            <a:r>
              <a:rPr lang="en-US" altLang="ja-JP" sz="1050" dirty="0" err="1"/>
              <a:t>Str_S</a:t>
            </a:r>
            <a:endParaRPr kumimoji="1" lang="en-US" altLang="ja-JP" sz="1050" dirty="0"/>
          </a:p>
          <a:p>
            <a:pPr algn="ctr"/>
            <a:r>
              <a:rPr lang="en-US" altLang="ja-JP" sz="1050" dirty="0"/>
              <a:t>7</a:t>
            </a:r>
          </a:p>
          <a:p>
            <a:pPr algn="ctr"/>
            <a:r>
              <a:rPr lang="ja-JP" altLang="en-US" sz="1050" dirty="0"/>
              <a:t>ステアリング角変更</a:t>
            </a:r>
            <a:r>
              <a:rPr lang="en-US" altLang="ja-JP" sz="1050" dirty="0"/>
              <a:t>value=[100</a:t>
            </a:r>
            <a:r>
              <a:rPr lang="ja-JP" altLang="en-US" sz="1050" dirty="0"/>
              <a:t>（右）</a:t>
            </a:r>
            <a:r>
              <a:rPr lang="en-US" altLang="ja-JP" sz="1050" dirty="0"/>
              <a:t>,-100(</a:t>
            </a:r>
            <a:r>
              <a:rPr lang="ja-JP" altLang="en-US" sz="1050" dirty="0"/>
              <a:t>左</a:t>
            </a:r>
            <a:r>
              <a:rPr lang="en-US" altLang="ja-JP" sz="1050" dirty="0"/>
              <a:t>)]</a:t>
            </a:r>
          </a:p>
          <a:p>
            <a:pPr algn="ctr"/>
            <a:r>
              <a:rPr lang="ja-JP" altLang="en-US" sz="1050" dirty="0"/>
              <a:t>実行中駆動変化なし</a:t>
            </a:r>
            <a:endParaRPr lang="en-US" altLang="ja-JP" sz="1050" dirty="0"/>
          </a:p>
        </p:txBody>
      </p:sp>
      <p:sp>
        <p:nvSpPr>
          <p:cNvPr id="21" name="吹き出し: 四角形 20">
            <a:extLst>
              <a:ext uri="{FF2B5EF4-FFF2-40B4-BE49-F238E27FC236}">
                <a16:creationId xmlns:a16="http://schemas.microsoft.com/office/drawing/2014/main" id="{C9299AD5-923C-0E7E-8362-CB6C135A0412}"/>
              </a:ext>
            </a:extLst>
          </p:cNvPr>
          <p:cNvSpPr/>
          <p:nvPr/>
        </p:nvSpPr>
        <p:spPr>
          <a:xfrm>
            <a:off x="2365728" y="5446544"/>
            <a:ext cx="1303594" cy="718496"/>
          </a:xfrm>
          <a:prstGeom prst="wedgeRectCallout">
            <a:avLst>
              <a:gd name="adj1" fmla="val 13936"/>
              <a:gd name="adj2" fmla="val -8331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ja-JP" sz="1050" dirty="0"/>
              <a:t>b</a:t>
            </a:r>
            <a:r>
              <a:rPr kumimoji="1" lang="en-US" altLang="ja-JP" sz="1050" dirty="0"/>
              <a:t>t_A_</a:t>
            </a:r>
            <a:r>
              <a:rPr lang="en-US" altLang="ja-JP" sz="1050" dirty="0"/>
              <a:t>Dn</a:t>
            </a:r>
            <a:r>
              <a:rPr kumimoji="1" lang="en-US" altLang="ja-JP" sz="1050" dirty="0"/>
              <a:t>_0</a:t>
            </a:r>
          </a:p>
          <a:p>
            <a:pPr algn="ctr"/>
            <a:r>
              <a:rPr lang="en-US" altLang="ja-JP" sz="1050" dirty="0"/>
              <a:t>10</a:t>
            </a:r>
          </a:p>
          <a:p>
            <a:pPr algn="ctr"/>
            <a:r>
              <a:rPr lang="ja-JP" altLang="en-US" sz="1050" dirty="0"/>
              <a:t>モータ速度</a:t>
            </a:r>
            <a:r>
              <a:rPr lang="en-US" altLang="ja-JP" sz="1050" dirty="0"/>
              <a:t>-1</a:t>
            </a:r>
          </a:p>
          <a:p>
            <a:pPr algn="ctr"/>
            <a:r>
              <a:rPr lang="en-US" altLang="ja-JP" sz="1050" dirty="0"/>
              <a:t>m</a:t>
            </a:r>
            <a:r>
              <a:rPr kumimoji="1" lang="en-US" altLang="ja-JP" sz="1050" dirty="0"/>
              <a:t>ot_spd-1</a:t>
            </a:r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2ADE99AF-6C09-E976-739E-62520E50314E}"/>
              </a:ext>
            </a:extLst>
          </p:cNvPr>
          <p:cNvSpPr txBox="1"/>
          <p:nvPr/>
        </p:nvSpPr>
        <p:spPr>
          <a:xfrm>
            <a:off x="2288279" y="212559"/>
            <a:ext cx="11448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root.html</a:t>
            </a:r>
            <a:endParaRPr kumimoji="1" lang="ja-JP" altLang="en-US" dirty="0"/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1854F29D-6E42-1A14-B586-021F0AD16B4D}"/>
              </a:ext>
            </a:extLst>
          </p:cNvPr>
          <p:cNvSpPr txBox="1"/>
          <p:nvPr/>
        </p:nvSpPr>
        <p:spPr>
          <a:xfrm>
            <a:off x="6140286" y="203199"/>
            <a:ext cx="13163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/>
              <a:t>setup</a:t>
            </a:r>
            <a:r>
              <a:rPr kumimoji="1" lang="en-US" altLang="ja-JP" dirty="0"/>
              <a:t>.html</a:t>
            </a:r>
            <a:endParaRPr kumimoji="1" lang="ja-JP" altLang="en-US" dirty="0"/>
          </a:p>
        </p:txBody>
      </p:sp>
      <p:sp>
        <p:nvSpPr>
          <p:cNvPr id="26" name="吹き出し: 四角形 25">
            <a:extLst>
              <a:ext uri="{FF2B5EF4-FFF2-40B4-BE49-F238E27FC236}">
                <a16:creationId xmlns:a16="http://schemas.microsoft.com/office/drawing/2014/main" id="{2D2E19E6-66F2-0880-4984-9AA27E3EC602}"/>
              </a:ext>
            </a:extLst>
          </p:cNvPr>
          <p:cNvSpPr/>
          <p:nvPr/>
        </p:nvSpPr>
        <p:spPr>
          <a:xfrm>
            <a:off x="4893668" y="2011549"/>
            <a:ext cx="995341" cy="900545"/>
          </a:xfrm>
          <a:prstGeom prst="wedgeRectCallout">
            <a:avLst>
              <a:gd name="adj1" fmla="val 89186"/>
              <a:gd name="adj2" fmla="val 28060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ja-JP" sz="1050" dirty="0" err="1"/>
              <a:t>b</a:t>
            </a:r>
            <a:r>
              <a:rPr kumimoji="1" lang="en-US" altLang="ja-JP" sz="1050" dirty="0" err="1"/>
              <a:t>t_A_L</a:t>
            </a:r>
            <a:endParaRPr kumimoji="1" lang="en-US" altLang="ja-JP" sz="1050" dirty="0"/>
          </a:p>
          <a:p>
            <a:pPr algn="ctr"/>
            <a:r>
              <a:rPr lang="en-US" altLang="ja-JP" sz="1050" dirty="0"/>
              <a:t>13</a:t>
            </a:r>
          </a:p>
          <a:p>
            <a:pPr algn="ctr"/>
            <a:r>
              <a:rPr kumimoji="1" lang="ja-JP" altLang="en-US" sz="1050" dirty="0"/>
              <a:t>ステアリング標準位置</a:t>
            </a:r>
            <a:r>
              <a:rPr kumimoji="1" lang="en-US" altLang="ja-JP" sz="1050" dirty="0"/>
              <a:t>-1</a:t>
            </a:r>
          </a:p>
          <a:p>
            <a:pPr algn="ctr"/>
            <a:r>
              <a:rPr lang="en-US" altLang="ja-JP" sz="1050" dirty="0"/>
              <a:t>str0-1</a:t>
            </a:r>
            <a:endParaRPr kumimoji="1" lang="ja-JP" altLang="en-US" sz="1050" dirty="0"/>
          </a:p>
        </p:txBody>
      </p:sp>
      <p:sp>
        <p:nvSpPr>
          <p:cNvPr id="28" name="吹き出し: 四角形 27">
            <a:extLst>
              <a:ext uri="{FF2B5EF4-FFF2-40B4-BE49-F238E27FC236}">
                <a16:creationId xmlns:a16="http://schemas.microsoft.com/office/drawing/2014/main" id="{4BDB3C28-F55C-A783-D8A6-C71A1A77745A}"/>
              </a:ext>
            </a:extLst>
          </p:cNvPr>
          <p:cNvSpPr/>
          <p:nvPr/>
        </p:nvSpPr>
        <p:spPr>
          <a:xfrm>
            <a:off x="7751497" y="2011549"/>
            <a:ext cx="995341" cy="900545"/>
          </a:xfrm>
          <a:prstGeom prst="wedgeRectCallout">
            <a:avLst>
              <a:gd name="adj1" fmla="val -90838"/>
              <a:gd name="adj2" fmla="val 33188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ja-JP" sz="1050" dirty="0" err="1"/>
              <a:t>b</a:t>
            </a:r>
            <a:r>
              <a:rPr kumimoji="1" lang="en-US" altLang="ja-JP" sz="1050" dirty="0" err="1"/>
              <a:t>t_A_R</a:t>
            </a:r>
            <a:endParaRPr kumimoji="1" lang="en-US" altLang="ja-JP" sz="1050" dirty="0"/>
          </a:p>
          <a:p>
            <a:pPr algn="ctr"/>
            <a:r>
              <a:rPr lang="en-US" altLang="ja-JP" sz="1050" dirty="0"/>
              <a:t>14</a:t>
            </a:r>
          </a:p>
          <a:p>
            <a:pPr algn="ctr"/>
            <a:r>
              <a:rPr kumimoji="1" lang="ja-JP" altLang="en-US" sz="1050" dirty="0"/>
              <a:t>ステアリング標準位置</a:t>
            </a:r>
            <a:r>
              <a:rPr lang="en-US" altLang="ja-JP" sz="1050" dirty="0"/>
              <a:t>+</a:t>
            </a:r>
            <a:r>
              <a:rPr kumimoji="1" lang="en-US" altLang="ja-JP" sz="1050" dirty="0"/>
              <a:t>1</a:t>
            </a:r>
          </a:p>
          <a:p>
            <a:pPr algn="ctr"/>
            <a:r>
              <a:rPr lang="en-US" altLang="ja-JP" sz="1050" dirty="0"/>
              <a:t>str0+1</a:t>
            </a:r>
            <a:endParaRPr kumimoji="1" lang="ja-JP" altLang="en-US" sz="1050" dirty="0"/>
          </a:p>
        </p:txBody>
      </p:sp>
      <p:sp>
        <p:nvSpPr>
          <p:cNvPr id="30" name="吹き出し: 四角形 29">
            <a:extLst>
              <a:ext uri="{FF2B5EF4-FFF2-40B4-BE49-F238E27FC236}">
                <a16:creationId xmlns:a16="http://schemas.microsoft.com/office/drawing/2014/main" id="{362EB79A-4C2B-3588-C9AD-5A0F15997EFA}"/>
              </a:ext>
            </a:extLst>
          </p:cNvPr>
          <p:cNvSpPr/>
          <p:nvPr/>
        </p:nvSpPr>
        <p:spPr>
          <a:xfrm>
            <a:off x="4457528" y="2974500"/>
            <a:ext cx="1431481" cy="900545"/>
          </a:xfrm>
          <a:prstGeom prst="wedgeRectCallout">
            <a:avLst>
              <a:gd name="adj1" fmla="val 66949"/>
              <a:gd name="adj2" fmla="val 10624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ja-JP" sz="1050" dirty="0" err="1"/>
              <a:t>b</a:t>
            </a:r>
            <a:r>
              <a:rPr kumimoji="1" lang="en-US" altLang="ja-JP" sz="1050" dirty="0" err="1"/>
              <a:t>t_str_turnUp</a:t>
            </a:r>
            <a:endParaRPr kumimoji="1" lang="en-US" altLang="ja-JP" sz="1050" dirty="0"/>
          </a:p>
          <a:p>
            <a:pPr algn="ctr"/>
            <a:r>
              <a:rPr lang="en-US" altLang="ja-JP" sz="1050" dirty="0"/>
              <a:t>25</a:t>
            </a:r>
          </a:p>
          <a:p>
            <a:pPr algn="ctr"/>
            <a:r>
              <a:rPr kumimoji="1" lang="ja-JP" altLang="en-US" sz="1050" dirty="0"/>
              <a:t>ステアリング最大角</a:t>
            </a:r>
            <a:r>
              <a:rPr kumimoji="1" lang="en-US" altLang="ja-JP" sz="1050" dirty="0"/>
              <a:t>-1</a:t>
            </a:r>
          </a:p>
          <a:p>
            <a:pPr algn="ctr"/>
            <a:r>
              <a:rPr lang="en-US" altLang="ja-JP" sz="1050" dirty="0" err="1"/>
              <a:t>str_turn</a:t>
            </a:r>
            <a:r>
              <a:rPr lang="en-US" altLang="ja-JP" sz="1050" dirty="0"/>
              <a:t> -1</a:t>
            </a:r>
            <a:endParaRPr kumimoji="1" lang="ja-JP" altLang="en-US" sz="1050" dirty="0"/>
          </a:p>
        </p:txBody>
      </p:sp>
      <p:sp>
        <p:nvSpPr>
          <p:cNvPr id="32" name="吹き出し: 四角形 31">
            <a:extLst>
              <a:ext uri="{FF2B5EF4-FFF2-40B4-BE49-F238E27FC236}">
                <a16:creationId xmlns:a16="http://schemas.microsoft.com/office/drawing/2014/main" id="{877FE59C-A832-4598-2081-28354645EB40}"/>
              </a:ext>
            </a:extLst>
          </p:cNvPr>
          <p:cNvSpPr/>
          <p:nvPr/>
        </p:nvSpPr>
        <p:spPr>
          <a:xfrm>
            <a:off x="7751498" y="3006436"/>
            <a:ext cx="1395381" cy="900545"/>
          </a:xfrm>
          <a:prstGeom prst="wedgeRectCallout">
            <a:avLst>
              <a:gd name="adj1" fmla="val -76494"/>
              <a:gd name="adj2" fmla="val 36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ja-JP" sz="1050" dirty="0" err="1"/>
              <a:t>b</a:t>
            </a:r>
            <a:r>
              <a:rPr kumimoji="1" lang="en-US" altLang="ja-JP" sz="1050" dirty="0" err="1"/>
              <a:t>t_str_turnDown</a:t>
            </a:r>
            <a:endParaRPr kumimoji="1" lang="en-US" altLang="ja-JP" sz="1050" dirty="0"/>
          </a:p>
          <a:p>
            <a:pPr algn="ctr"/>
            <a:r>
              <a:rPr lang="en-US" altLang="ja-JP" sz="1050" dirty="0"/>
              <a:t>26</a:t>
            </a:r>
          </a:p>
          <a:p>
            <a:pPr algn="ctr"/>
            <a:r>
              <a:rPr kumimoji="1" lang="ja-JP" altLang="en-US" sz="1050" dirty="0"/>
              <a:t>ステアリング</a:t>
            </a:r>
            <a:r>
              <a:rPr lang="ja-JP" altLang="en-US" sz="1050" dirty="0"/>
              <a:t>最大角</a:t>
            </a:r>
            <a:r>
              <a:rPr lang="en-US" altLang="ja-JP" sz="1050" dirty="0"/>
              <a:t>+</a:t>
            </a:r>
            <a:r>
              <a:rPr kumimoji="1" lang="en-US" altLang="ja-JP" sz="1050" dirty="0"/>
              <a:t>1</a:t>
            </a:r>
          </a:p>
          <a:p>
            <a:pPr algn="ctr"/>
            <a:r>
              <a:rPr lang="en-US" altLang="ja-JP" sz="1050" dirty="0" err="1"/>
              <a:t>str_turn</a:t>
            </a:r>
            <a:r>
              <a:rPr lang="en-US" altLang="ja-JP" sz="1050" dirty="0"/>
              <a:t> +1</a:t>
            </a:r>
            <a:endParaRPr kumimoji="1" lang="ja-JP" altLang="en-US" sz="1050" dirty="0"/>
          </a:p>
        </p:txBody>
      </p:sp>
      <p:sp>
        <p:nvSpPr>
          <p:cNvPr id="34" name="吹き出し: 四角形 33">
            <a:extLst>
              <a:ext uri="{FF2B5EF4-FFF2-40B4-BE49-F238E27FC236}">
                <a16:creationId xmlns:a16="http://schemas.microsoft.com/office/drawing/2014/main" id="{4E9EE429-D8EC-59F0-DCF2-442195185BC1}"/>
              </a:ext>
            </a:extLst>
          </p:cNvPr>
          <p:cNvSpPr/>
          <p:nvPr/>
        </p:nvSpPr>
        <p:spPr>
          <a:xfrm>
            <a:off x="4469502" y="3906981"/>
            <a:ext cx="1431481" cy="900545"/>
          </a:xfrm>
          <a:prstGeom prst="wedgeRectCallout">
            <a:avLst>
              <a:gd name="adj1" fmla="val 63078"/>
              <a:gd name="adj2" fmla="val -5786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ja-JP" sz="1050" dirty="0" err="1"/>
              <a:t>b</a:t>
            </a:r>
            <a:r>
              <a:rPr kumimoji="1" lang="en-US" altLang="ja-JP" sz="1050" dirty="0" err="1"/>
              <a:t>t_std_nutUp</a:t>
            </a:r>
            <a:endParaRPr kumimoji="1" lang="en-US" altLang="ja-JP" sz="1050" dirty="0"/>
          </a:p>
          <a:p>
            <a:pPr algn="ctr"/>
            <a:r>
              <a:rPr lang="en-US" altLang="ja-JP" sz="1050" dirty="0"/>
              <a:t>23</a:t>
            </a:r>
          </a:p>
          <a:p>
            <a:pPr algn="ctr"/>
            <a:r>
              <a:rPr kumimoji="1" lang="ja-JP" altLang="en-US" sz="1050" dirty="0"/>
              <a:t>初期傾斜角</a:t>
            </a:r>
            <a:r>
              <a:rPr kumimoji="1" lang="en-US" altLang="ja-JP" sz="1050" dirty="0"/>
              <a:t>-1</a:t>
            </a:r>
          </a:p>
          <a:p>
            <a:pPr algn="ctr"/>
            <a:r>
              <a:rPr lang="en-US" altLang="ja-JP" sz="1050" dirty="0" err="1"/>
              <a:t>str_turn</a:t>
            </a:r>
            <a:r>
              <a:rPr lang="en-US" altLang="ja-JP" sz="1050" dirty="0"/>
              <a:t> -1</a:t>
            </a:r>
            <a:endParaRPr kumimoji="1" lang="ja-JP" altLang="en-US" sz="1050" dirty="0"/>
          </a:p>
        </p:txBody>
      </p:sp>
      <p:sp>
        <p:nvSpPr>
          <p:cNvPr id="36" name="吹き出し: 四角形 35">
            <a:extLst>
              <a:ext uri="{FF2B5EF4-FFF2-40B4-BE49-F238E27FC236}">
                <a16:creationId xmlns:a16="http://schemas.microsoft.com/office/drawing/2014/main" id="{D5B0BD4F-CAA0-2C63-4104-76D8FBAC3BB4}"/>
              </a:ext>
            </a:extLst>
          </p:cNvPr>
          <p:cNvSpPr/>
          <p:nvPr/>
        </p:nvSpPr>
        <p:spPr>
          <a:xfrm>
            <a:off x="7751497" y="3957782"/>
            <a:ext cx="1431481" cy="900545"/>
          </a:xfrm>
          <a:prstGeom prst="wedgeRectCallout">
            <a:avLst>
              <a:gd name="adj1" fmla="val -76292"/>
              <a:gd name="adj2" fmla="val -18094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ja-JP" sz="1050" dirty="0" err="1"/>
              <a:t>b</a:t>
            </a:r>
            <a:r>
              <a:rPr kumimoji="1" lang="en-US" altLang="ja-JP" sz="1050" dirty="0" err="1"/>
              <a:t>t_std_nutDown</a:t>
            </a:r>
            <a:endParaRPr kumimoji="1" lang="en-US" altLang="ja-JP" sz="1050" dirty="0"/>
          </a:p>
          <a:p>
            <a:pPr algn="ctr"/>
            <a:r>
              <a:rPr lang="en-US" altLang="ja-JP" sz="1050" dirty="0"/>
              <a:t>24</a:t>
            </a:r>
          </a:p>
          <a:p>
            <a:pPr algn="ctr"/>
            <a:r>
              <a:rPr lang="ja-JP" altLang="en-US" sz="1050" dirty="0"/>
              <a:t>初期傾斜</a:t>
            </a:r>
            <a:r>
              <a:rPr kumimoji="1" lang="ja-JP" altLang="en-US" sz="1050" dirty="0"/>
              <a:t>角</a:t>
            </a:r>
            <a:r>
              <a:rPr kumimoji="1" lang="en-US" altLang="ja-JP" sz="1050" dirty="0"/>
              <a:t>-1</a:t>
            </a:r>
          </a:p>
          <a:p>
            <a:pPr algn="ctr"/>
            <a:r>
              <a:rPr lang="en-US" altLang="ja-JP" sz="1050" dirty="0" err="1"/>
              <a:t>str_turn</a:t>
            </a:r>
            <a:r>
              <a:rPr lang="en-US" altLang="ja-JP" sz="1050" dirty="0"/>
              <a:t> -1</a:t>
            </a:r>
            <a:endParaRPr kumimoji="1" lang="ja-JP" altLang="en-US" sz="1050" dirty="0"/>
          </a:p>
        </p:txBody>
      </p:sp>
      <p:sp>
        <p:nvSpPr>
          <p:cNvPr id="38" name="吹き出し: 四角形 37">
            <a:extLst>
              <a:ext uri="{FF2B5EF4-FFF2-40B4-BE49-F238E27FC236}">
                <a16:creationId xmlns:a16="http://schemas.microsoft.com/office/drawing/2014/main" id="{8FABA156-881A-2799-A279-6E0BDAED65D0}"/>
              </a:ext>
            </a:extLst>
          </p:cNvPr>
          <p:cNvSpPr/>
          <p:nvPr/>
        </p:nvSpPr>
        <p:spPr>
          <a:xfrm>
            <a:off x="3959857" y="4869932"/>
            <a:ext cx="1535782" cy="1013632"/>
          </a:xfrm>
          <a:prstGeom prst="wedgeRectCallout">
            <a:avLst>
              <a:gd name="adj1" fmla="val 84976"/>
              <a:gd name="adj2" fmla="val -33903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ja-JP" sz="1050" dirty="0" err="1"/>
              <a:t>b</a:t>
            </a:r>
            <a:r>
              <a:rPr kumimoji="1" lang="en-US" altLang="ja-JP" sz="1050" dirty="0" err="1"/>
              <a:t>t_A_Up</a:t>
            </a:r>
            <a:endParaRPr kumimoji="1" lang="en-US" altLang="ja-JP" sz="1050" dirty="0"/>
          </a:p>
          <a:p>
            <a:pPr algn="ctr"/>
            <a:r>
              <a:rPr lang="en-US" altLang="ja-JP" sz="1050" dirty="0"/>
              <a:t>11</a:t>
            </a:r>
          </a:p>
          <a:p>
            <a:pPr algn="ctr"/>
            <a:r>
              <a:rPr lang="ja-JP" altLang="en-US" sz="1050" dirty="0"/>
              <a:t>モータ速度</a:t>
            </a:r>
            <a:r>
              <a:rPr lang="en-US" altLang="ja-JP" sz="1050" dirty="0"/>
              <a:t>+1</a:t>
            </a:r>
            <a:r>
              <a:rPr lang="ja-JP" altLang="en-US" sz="1050" dirty="0"/>
              <a:t>で連続前進</a:t>
            </a:r>
            <a:endParaRPr lang="en-US" altLang="ja-JP" sz="1050" dirty="0"/>
          </a:p>
          <a:p>
            <a:pPr algn="ctr"/>
            <a:r>
              <a:rPr lang="en-US" altLang="ja-JP" sz="1050" dirty="0"/>
              <a:t>(</a:t>
            </a:r>
            <a:r>
              <a:rPr lang="ja-JP" altLang="en-US" sz="1050" dirty="0"/>
              <a:t>ステアリング角維持</a:t>
            </a:r>
            <a:r>
              <a:rPr lang="en-US" altLang="ja-JP" sz="1050" dirty="0"/>
              <a:t>)</a:t>
            </a:r>
            <a:endParaRPr kumimoji="1" lang="en-US" altLang="ja-JP" sz="1050" dirty="0"/>
          </a:p>
          <a:p>
            <a:pPr algn="ctr"/>
            <a:r>
              <a:rPr lang="en-US" altLang="ja-JP" sz="1050" dirty="0"/>
              <a:t>mot_std+1</a:t>
            </a:r>
            <a:endParaRPr kumimoji="1" lang="ja-JP" altLang="en-US" sz="1050" dirty="0"/>
          </a:p>
        </p:txBody>
      </p:sp>
      <p:sp>
        <p:nvSpPr>
          <p:cNvPr id="40" name="吹き出し: 四角形 39">
            <a:extLst>
              <a:ext uri="{FF2B5EF4-FFF2-40B4-BE49-F238E27FC236}">
                <a16:creationId xmlns:a16="http://schemas.microsoft.com/office/drawing/2014/main" id="{34BA190C-A97B-AE86-834E-B47853CA47DF}"/>
              </a:ext>
            </a:extLst>
          </p:cNvPr>
          <p:cNvSpPr/>
          <p:nvPr/>
        </p:nvSpPr>
        <p:spPr>
          <a:xfrm>
            <a:off x="5569917" y="5376748"/>
            <a:ext cx="1535782" cy="1013632"/>
          </a:xfrm>
          <a:prstGeom prst="wedgeRectCallout">
            <a:avLst>
              <a:gd name="adj1" fmla="val 29646"/>
              <a:gd name="adj2" fmla="val -80375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ja-JP" sz="1050" dirty="0" err="1"/>
              <a:t>b</a:t>
            </a:r>
            <a:r>
              <a:rPr kumimoji="1" lang="en-US" altLang="ja-JP" sz="1050" dirty="0" err="1"/>
              <a:t>t_A_</a:t>
            </a:r>
            <a:r>
              <a:rPr lang="en-US" altLang="ja-JP" sz="1050" dirty="0" err="1"/>
              <a:t>Down</a:t>
            </a:r>
            <a:endParaRPr kumimoji="1" lang="en-US" altLang="ja-JP" sz="1050" dirty="0"/>
          </a:p>
          <a:p>
            <a:pPr algn="ctr"/>
            <a:r>
              <a:rPr lang="en-US" altLang="ja-JP" sz="1050" dirty="0"/>
              <a:t>12</a:t>
            </a:r>
          </a:p>
          <a:p>
            <a:pPr algn="ctr"/>
            <a:r>
              <a:rPr lang="ja-JP" altLang="en-US" sz="1050" dirty="0"/>
              <a:t>モータ速度</a:t>
            </a:r>
            <a:r>
              <a:rPr lang="en-US" altLang="ja-JP" sz="1050" dirty="0"/>
              <a:t>-1</a:t>
            </a:r>
            <a:r>
              <a:rPr lang="ja-JP" altLang="en-US" sz="1050" dirty="0"/>
              <a:t>で連続前進</a:t>
            </a:r>
            <a:endParaRPr lang="en-US" altLang="ja-JP" sz="1050" dirty="0"/>
          </a:p>
          <a:p>
            <a:pPr algn="ctr"/>
            <a:r>
              <a:rPr lang="en-US" altLang="ja-JP" sz="1050" dirty="0"/>
              <a:t>(</a:t>
            </a:r>
            <a:r>
              <a:rPr lang="ja-JP" altLang="en-US" sz="1050" dirty="0"/>
              <a:t>ステアリング角維持</a:t>
            </a:r>
            <a:r>
              <a:rPr lang="en-US" altLang="ja-JP" sz="1050" dirty="0"/>
              <a:t>)</a:t>
            </a:r>
            <a:endParaRPr kumimoji="1" lang="en-US" altLang="ja-JP" sz="1050" dirty="0"/>
          </a:p>
          <a:p>
            <a:pPr algn="ctr"/>
            <a:r>
              <a:rPr lang="en-US" altLang="ja-JP" sz="1050" dirty="0"/>
              <a:t>mot_std-1</a:t>
            </a:r>
            <a:endParaRPr kumimoji="1" lang="ja-JP" altLang="en-US" sz="1050" dirty="0"/>
          </a:p>
        </p:txBody>
      </p:sp>
      <p:sp>
        <p:nvSpPr>
          <p:cNvPr id="42" name="吹き出し: 四角形 41">
            <a:extLst>
              <a:ext uri="{FF2B5EF4-FFF2-40B4-BE49-F238E27FC236}">
                <a16:creationId xmlns:a16="http://schemas.microsoft.com/office/drawing/2014/main" id="{F96801F4-8A23-65DD-0354-5702FDF1DCD4}"/>
              </a:ext>
            </a:extLst>
          </p:cNvPr>
          <p:cNvSpPr/>
          <p:nvPr/>
        </p:nvSpPr>
        <p:spPr>
          <a:xfrm>
            <a:off x="7581573" y="5270916"/>
            <a:ext cx="1765630" cy="612648"/>
          </a:xfrm>
          <a:prstGeom prst="wedgeRectCallout">
            <a:avLst>
              <a:gd name="adj1" fmla="val -70218"/>
              <a:gd name="adj2" fmla="val -88262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ja-JP" sz="1050" dirty="0" err="1"/>
              <a:t>b</a:t>
            </a:r>
            <a:r>
              <a:rPr kumimoji="1" lang="en-US" altLang="ja-JP" sz="1050" dirty="0" err="1"/>
              <a:t>t_D_St</a:t>
            </a:r>
            <a:endParaRPr kumimoji="1" lang="en-US" altLang="ja-JP" sz="1050" dirty="0"/>
          </a:p>
          <a:p>
            <a:pPr algn="ctr"/>
            <a:r>
              <a:rPr lang="en-US" altLang="ja-JP" sz="1050" dirty="0"/>
              <a:t>19</a:t>
            </a:r>
          </a:p>
          <a:p>
            <a:pPr algn="ctr"/>
            <a:r>
              <a:rPr lang="ja-JP" altLang="en-US" sz="1050" dirty="0"/>
              <a:t>停止</a:t>
            </a:r>
            <a:r>
              <a:rPr lang="en-US" altLang="ja-JP" sz="1050" dirty="0"/>
              <a:t>(</a:t>
            </a:r>
            <a:r>
              <a:rPr lang="en-US" altLang="ja-JP" sz="1050" dirty="0" err="1"/>
              <a:t>mod_std</a:t>
            </a:r>
            <a:r>
              <a:rPr lang="ja-JP" altLang="en-US" sz="1050" dirty="0"/>
              <a:t>維持</a:t>
            </a:r>
            <a:r>
              <a:rPr lang="en-US" altLang="ja-JP" sz="1050" dirty="0"/>
              <a:t>)</a:t>
            </a:r>
            <a:endParaRPr kumimoji="1" lang="ja-JP" altLang="en-US" sz="1050" dirty="0"/>
          </a:p>
        </p:txBody>
      </p:sp>
      <p:pic>
        <p:nvPicPr>
          <p:cNvPr id="44" name="図 43">
            <a:extLst>
              <a:ext uri="{FF2B5EF4-FFF2-40B4-BE49-F238E27FC236}">
                <a16:creationId xmlns:a16="http://schemas.microsoft.com/office/drawing/2014/main" id="{A09444A4-1ACE-6BA0-DFBB-129C6CDF994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82734" y="581892"/>
            <a:ext cx="2751602" cy="6049818"/>
          </a:xfrm>
          <a:prstGeom prst="rect">
            <a:avLst/>
          </a:prstGeom>
        </p:spPr>
      </p:pic>
      <p:sp>
        <p:nvSpPr>
          <p:cNvPr id="45" name="正方形/長方形 44">
            <a:extLst>
              <a:ext uri="{FF2B5EF4-FFF2-40B4-BE49-F238E27FC236}">
                <a16:creationId xmlns:a16="http://schemas.microsoft.com/office/drawing/2014/main" id="{DE0D45A0-5253-979D-5BD7-93562536D733}"/>
              </a:ext>
            </a:extLst>
          </p:cNvPr>
          <p:cNvSpPr/>
          <p:nvPr/>
        </p:nvSpPr>
        <p:spPr>
          <a:xfrm>
            <a:off x="9725894" y="1200727"/>
            <a:ext cx="1773381" cy="92364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7" name="正方形/長方形 46">
            <a:extLst>
              <a:ext uri="{FF2B5EF4-FFF2-40B4-BE49-F238E27FC236}">
                <a16:creationId xmlns:a16="http://schemas.microsoft.com/office/drawing/2014/main" id="{EB585AFD-DDC9-402C-7200-197C12DBFA10}"/>
              </a:ext>
            </a:extLst>
          </p:cNvPr>
          <p:cNvSpPr/>
          <p:nvPr/>
        </p:nvSpPr>
        <p:spPr>
          <a:xfrm>
            <a:off x="9725893" y="1009072"/>
            <a:ext cx="1283855" cy="92364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9" name="テキスト ボックス 48">
            <a:extLst>
              <a:ext uri="{FF2B5EF4-FFF2-40B4-BE49-F238E27FC236}">
                <a16:creationId xmlns:a16="http://schemas.microsoft.com/office/drawing/2014/main" id="{3245FF6F-43D6-5174-8C06-0BDCADB698A2}"/>
              </a:ext>
            </a:extLst>
          </p:cNvPr>
          <p:cNvSpPr txBox="1"/>
          <p:nvPr/>
        </p:nvSpPr>
        <p:spPr>
          <a:xfrm>
            <a:off x="10351555" y="241484"/>
            <a:ext cx="14446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/>
              <a:t>setup2</a:t>
            </a:r>
            <a:r>
              <a:rPr kumimoji="1" lang="en-US" altLang="ja-JP" dirty="0"/>
              <a:t>.html</a:t>
            </a:r>
            <a:endParaRPr kumimoji="1" lang="ja-JP" altLang="en-US" dirty="0"/>
          </a:p>
        </p:txBody>
      </p:sp>
      <p:sp>
        <p:nvSpPr>
          <p:cNvPr id="51" name="吹き出し: 四角形 50">
            <a:extLst>
              <a:ext uri="{FF2B5EF4-FFF2-40B4-BE49-F238E27FC236}">
                <a16:creationId xmlns:a16="http://schemas.microsoft.com/office/drawing/2014/main" id="{7D1F7729-C8C5-AE1D-DB4B-C30F3FEBB751}"/>
              </a:ext>
            </a:extLst>
          </p:cNvPr>
          <p:cNvSpPr/>
          <p:nvPr/>
        </p:nvSpPr>
        <p:spPr>
          <a:xfrm>
            <a:off x="9058362" y="1078343"/>
            <a:ext cx="1099532" cy="900545"/>
          </a:xfrm>
          <a:prstGeom prst="wedgeRectCallout">
            <a:avLst>
              <a:gd name="adj1" fmla="val 83306"/>
              <a:gd name="adj2" fmla="val 80368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ja-JP" sz="1050" dirty="0" err="1"/>
              <a:t>b</a:t>
            </a:r>
            <a:r>
              <a:rPr kumimoji="1" lang="en-US" altLang="ja-JP" sz="1050" dirty="0" err="1"/>
              <a:t>t_</a:t>
            </a:r>
            <a:r>
              <a:rPr lang="en-US" altLang="ja-JP" sz="1050" dirty="0" err="1"/>
              <a:t>S_Up</a:t>
            </a:r>
            <a:endParaRPr kumimoji="1" lang="en-US" altLang="ja-JP" sz="1050" dirty="0"/>
          </a:p>
          <a:p>
            <a:pPr algn="ctr"/>
            <a:r>
              <a:rPr lang="en-US" altLang="ja-JP" sz="1050" dirty="0"/>
              <a:t>15</a:t>
            </a:r>
          </a:p>
          <a:p>
            <a:pPr algn="ctr"/>
            <a:r>
              <a:rPr lang="ja-JP" altLang="en-US" sz="1050" dirty="0"/>
              <a:t>ステアリング感度</a:t>
            </a:r>
            <a:r>
              <a:rPr lang="en-US" altLang="ja-JP" sz="1050" dirty="0"/>
              <a:t>+0.01</a:t>
            </a:r>
          </a:p>
          <a:p>
            <a:pPr algn="ctr"/>
            <a:r>
              <a:rPr lang="en-US" altLang="ja-JP" sz="1050" dirty="0" err="1"/>
              <a:t>gain_str</a:t>
            </a:r>
            <a:r>
              <a:rPr lang="en-US" altLang="ja-JP" sz="1050" dirty="0"/>
              <a:t> +0.01</a:t>
            </a:r>
            <a:endParaRPr kumimoji="1" lang="ja-JP" altLang="en-US" sz="1050" dirty="0"/>
          </a:p>
        </p:txBody>
      </p:sp>
      <p:sp>
        <p:nvSpPr>
          <p:cNvPr id="53" name="吹き出し: 四角形 52">
            <a:extLst>
              <a:ext uri="{FF2B5EF4-FFF2-40B4-BE49-F238E27FC236}">
                <a16:creationId xmlns:a16="http://schemas.microsoft.com/office/drawing/2014/main" id="{A9CF5042-1BC2-FE10-DF29-3C200065F29E}"/>
              </a:ext>
            </a:extLst>
          </p:cNvPr>
          <p:cNvSpPr/>
          <p:nvPr/>
        </p:nvSpPr>
        <p:spPr>
          <a:xfrm>
            <a:off x="11377963" y="1055254"/>
            <a:ext cx="1099532" cy="900545"/>
          </a:xfrm>
          <a:prstGeom prst="wedgeRectCallout">
            <a:avLst>
              <a:gd name="adj1" fmla="val -50258"/>
              <a:gd name="adj2" fmla="val 7523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ja-JP" sz="1050" dirty="0" err="1"/>
              <a:t>b</a:t>
            </a:r>
            <a:r>
              <a:rPr kumimoji="1" lang="en-US" altLang="ja-JP" sz="1050" dirty="0" err="1"/>
              <a:t>t_</a:t>
            </a:r>
            <a:r>
              <a:rPr lang="en-US" altLang="ja-JP" sz="1050" dirty="0" err="1"/>
              <a:t>S_Down</a:t>
            </a:r>
            <a:endParaRPr kumimoji="1" lang="en-US" altLang="ja-JP" sz="1050" dirty="0"/>
          </a:p>
          <a:p>
            <a:pPr algn="ctr"/>
            <a:r>
              <a:rPr lang="en-US" altLang="ja-JP" sz="1050" dirty="0"/>
              <a:t>16</a:t>
            </a:r>
          </a:p>
          <a:p>
            <a:pPr algn="ctr"/>
            <a:r>
              <a:rPr lang="ja-JP" altLang="en-US" sz="1050" dirty="0"/>
              <a:t>ステアリング感度</a:t>
            </a:r>
            <a:r>
              <a:rPr lang="en-US" altLang="ja-JP" sz="1050" dirty="0"/>
              <a:t>-0.01</a:t>
            </a:r>
          </a:p>
          <a:p>
            <a:pPr algn="ctr"/>
            <a:r>
              <a:rPr lang="en-US" altLang="ja-JP" sz="1050" dirty="0" err="1"/>
              <a:t>gain_str</a:t>
            </a:r>
            <a:r>
              <a:rPr lang="en-US" altLang="ja-JP" sz="1050" dirty="0"/>
              <a:t> -0.01</a:t>
            </a:r>
            <a:endParaRPr kumimoji="1" lang="ja-JP" altLang="en-US" sz="1050" dirty="0"/>
          </a:p>
        </p:txBody>
      </p:sp>
      <p:sp>
        <p:nvSpPr>
          <p:cNvPr id="55" name="吹き出し: 四角形 54">
            <a:extLst>
              <a:ext uri="{FF2B5EF4-FFF2-40B4-BE49-F238E27FC236}">
                <a16:creationId xmlns:a16="http://schemas.microsoft.com/office/drawing/2014/main" id="{7DA650B7-2323-F2B5-240C-491D4706BC3C}"/>
              </a:ext>
            </a:extLst>
          </p:cNvPr>
          <p:cNvSpPr/>
          <p:nvPr/>
        </p:nvSpPr>
        <p:spPr>
          <a:xfrm>
            <a:off x="8967911" y="2067789"/>
            <a:ext cx="1308397" cy="900545"/>
          </a:xfrm>
          <a:prstGeom prst="wedgeRectCallout">
            <a:avLst>
              <a:gd name="adj1" fmla="val 63710"/>
              <a:gd name="adj2" fmla="val 48573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ja-JP" sz="1050" dirty="0" err="1"/>
              <a:t>b</a:t>
            </a:r>
            <a:r>
              <a:rPr kumimoji="1" lang="en-US" altLang="ja-JP" sz="1050" dirty="0" err="1"/>
              <a:t>t_R</a:t>
            </a:r>
            <a:r>
              <a:rPr lang="en-US" altLang="ja-JP" sz="1050" dirty="0" err="1"/>
              <a:t>_Up</a:t>
            </a:r>
            <a:endParaRPr kumimoji="1" lang="en-US" altLang="ja-JP" sz="1050" dirty="0"/>
          </a:p>
          <a:p>
            <a:pPr algn="ctr"/>
            <a:r>
              <a:rPr lang="en-US" altLang="ja-JP" sz="1050" dirty="0"/>
              <a:t>17</a:t>
            </a:r>
          </a:p>
          <a:p>
            <a:pPr algn="ctr"/>
            <a:r>
              <a:rPr lang="ja-JP" altLang="en-US" sz="1050" dirty="0"/>
              <a:t>ロール方向のゲイン</a:t>
            </a:r>
            <a:r>
              <a:rPr lang="en-US" altLang="ja-JP" sz="1050" dirty="0"/>
              <a:t>+1.00</a:t>
            </a:r>
          </a:p>
          <a:p>
            <a:pPr algn="ctr"/>
            <a:r>
              <a:rPr lang="en-US" altLang="ja-JP" sz="1050" dirty="0"/>
              <a:t>gain_w_roll+1.00</a:t>
            </a:r>
            <a:endParaRPr kumimoji="1" lang="ja-JP" altLang="en-US" sz="1050" dirty="0"/>
          </a:p>
        </p:txBody>
      </p:sp>
      <p:sp>
        <p:nvSpPr>
          <p:cNvPr id="57" name="吹き出し: 四角形 56">
            <a:extLst>
              <a:ext uri="{FF2B5EF4-FFF2-40B4-BE49-F238E27FC236}">
                <a16:creationId xmlns:a16="http://schemas.microsoft.com/office/drawing/2014/main" id="{48CFE310-6DF4-0EDB-C41C-C0F96D1779C8}"/>
              </a:ext>
            </a:extLst>
          </p:cNvPr>
          <p:cNvSpPr/>
          <p:nvPr/>
        </p:nvSpPr>
        <p:spPr>
          <a:xfrm>
            <a:off x="11694072" y="2105891"/>
            <a:ext cx="1308397" cy="900545"/>
          </a:xfrm>
          <a:prstGeom prst="wedgeRectCallout">
            <a:avLst>
              <a:gd name="adj1" fmla="val -66181"/>
              <a:gd name="adj2" fmla="val 44470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ja-JP" sz="1050" dirty="0" err="1"/>
              <a:t>b</a:t>
            </a:r>
            <a:r>
              <a:rPr kumimoji="1" lang="en-US" altLang="ja-JP" sz="1050" dirty="0" err="1"/>
              <a:t>t_R</a:t>
            </a:r>
            <a:r>
              <a:rPr lang="en-US" altLang="ja-JP" sz="1050" dirty="0" err="1"/>
              <a:t>_Down</a:t>
            </a:r>
            <a:endParaRPr kumimoji="1" lang="en-US" altLang="ja-JP" sz="1050" dirty="0"/>
          </a:p>
          <a:p>
            <a:pPr algn="ctr"/>
            <a:r>
              <a:rPr lang="en-US" altLang="ja-JP" sz="1050" dirty="0"/>
              <a:t>18</a:t>
            </a:r>
          </a:p>
          <a:p>
            <a:pPr algn="ctr"/>
            <a:r>
              <a:rPr lang="ja-JP" altLang="en-US" sz="1050" dirty="0"/>
              <a:t>ロール方向のゲイン</a:t>
            </a:r>
            <a:r>
              <a:rPr lang="en-US" altLang="ja-JP" sz="1050" dirty="0"/>
              <a:t>-1.00</a:t>
            </a:r>
          </a:p>
          <a:p>
            <a:pPr algn="ctr"/>
            <a:r>
              <a:rPr lang="en-US" altLang="ja-JP" sz="1050" dirty="0"/>
              <a:t>gain_w_roll-1.00</a:t>
            </a:r>
            <a:endParaRPr kumimoji="1" lang="ja-JP" altLang="en-US" sz="1050" dirty="0"/>
          </a:p>
        </p:txBody>
      </p:sp>
      <p:sp>
        <p:nvSpPr>
          <p:cNvPr id="59" name="吹き出し: 四角形 58">
            <a:extLst>
              <a:ext uri="{FF2B5EF4-FFF2-40B4-BE49-F238E27FC236}">
                <a16:creationId xmlns:a16="http://schemas.microsoft.com/office/drawing/2014/main" id="{714AFE01-67A4-5022-7755-3B62FD80C99F}"/>
              </a:ext>
            </a:extLst>
          </p:cNvPr>
          <p:cNvSpPr/>
          <p:nvPr/>
        </p:nvSpPr>
        <p:spPr>
          <a:xfrm>
            <a:off x="9273312" y="3482109"/>
            <a:ext cx="1142588" cy="1082917"/>
          </a:xfrm>
          <a:prstGeom prst="wedgeRectCallout">
            <a:avLst>
              <a:gd name="adj1" fmla="val 60180"/>
              <a:gd name="adj2" fmla="val -35530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ja-JP" sz="1050" dirty="0" err="1"/>
              <a:t>b</a:t>
            </a:r>
            <a:r>
              <a:rPr kumimoji="1" lang="en-US" altLang="ja-JP" sz="1050" dirty="0" err="1"/>
              <a:t>t_D</a:t>
            </a:r>
            <a:r>
              <a:rPr lang="en-US" altLang="ja-JP" sz="1050" dirty="0" err="1"/>
              <a:t>_Up</a:t>
            </a:r>
            <a:endParaRPr kumimoji="1" lang="en-US" altLang="ja-JP" sz="1050" dirty="0"/>
          </a:p>
          <a:p>
            <a:pPr algn="ctr"/>
            <a:r>
              <a:rPr lang="en-US" altLang="ja-JP" sz="1050" dirty="0"/>
              <a:t>20</a:t>
            </a:r>
          </a:p>
          <a:p>
            <a:pPr algn="ctr"/>
            <a:r>
              <a:rPr lang="ja-JP" altLang="en-US" sz="1050" dirty="0"/>
              <a:t>ステアリング差分感度</a:t>
            </a:r>
            <a:r>
              <a:rPr lang="en-US" altLang="ja-JP" sz="1050" dirty="0"/>
              <a:t>+0.01</a:t>
            </a:r>
          </a:p>
          <a:p>
            <a:pPr algn="ctr"/>
            <a:r>
              <a:rPr lang="de-DE" altLang="ja-JP" sz="1050" dirty="0"/>
              <a:t>gain_str_diff+0.01</a:t>
            </a:r>
            <a:endParaRPr kumimoji="1" lang="ja-JP" altLang="en-US" sz="1050" dirty="0"/>
          </a:p>
        </p:txBody>
      </p:sp>
      <p:sp>
        <p:nvSpPr>
          <p:cNvPr id="61" name="吹き出し: 四角形 60">
            <a:extLst>
              <a:ext uri="{FF2B5EF4-FFF2-40B4-BE49-F238E27FC236}">
                <a16:creationId xmlns:a16="http://schemas.microsoft.com/office/drawing/2014/main" id="{A40154B9-9637-B466-5DE4-222A64F7B80B}"/>
              </a:ext>
            </a:extLst>
          </p:cNvPr>
          <p:cNvSpPr/>
          <p:nvPr/>
        </p:nvSpPr>
        <p:spPr>
          <a:xfrm>
            <a:off x="11627603" y="3482109"/>
            <a:ext cx="1142588" cy="1082917"/>
          </a:xfrm>
          <a:prstGeom prst="wedgeRectCallout">
            <a:avLst>
              <a:gd name="adj1" fmla="val -73201"/>
              <a:gd name="adj2" fmla="val -29560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ja-JP" sz="1050" dirty="0" err="1"/>
              <a:t>b</a:t>
            </a:r>
            <a:r>
              <a:rPr kumimoji="1" lang="en-US" altLang="ja-JP" sz="1050" dirty="0" err="1"/>
              <a:t>t_D</a:t>
            </a:r>
            <a:r>
              <a:rPr lang="en-US" altLang="ja-JP" sz="1050" dirty="0" err="1"/>
              <a:t>_Down</a:t>
            </a:r>
            <a:endParaRPr kumimoji="1" lang="en-US" altLang="ja-JP" sz="1050" dirty="0"/>
          </a:p>
          <a:p>
            <a:pPr algn="ctr"/>
            <a:r>
              <a:rPr lang="en-US" altLang="ja-JP" sz="1050" dirty="0"/>
              <a:t>21</a:t>
            </a:r>
          </a:p>
          <a:p>
            <a:pPr algn="ctr"/>
            <a:r>
              <a:rPr lang="ja-JP" altLang="en-US" sz="1050" dirty="0"/>
              <a:t>ステアリング差分感度</a:t>
            </a:r>
            <a:r>
              <a:rPr lang="en-US" altLang="ja-JP" sz="1050" dirty="0"/>
              <a:t>-0.01</a:t>
            </a:r>
          </a:p>
          <a:p>
            <a:pPr algn="ctr"/>
            <a:r>
              <a:rPr lang="de-DE" altLang="ja-JP" sz="1050" dirty="0"/>
              <a:t>gain_str_diff-0.01</a:t>
            </a:r>
            <a:endParaRPr kumimoji="1" lang="ja-JP" altLang="en-US" sz="1050" dirty="0"/>
          </a:p>
        </p:txBody>
      </p:sp>
      <p:sp>
        <p:nvSpPr>
          <p:cNvPr id="63" name="吹き出し: 四角形 62">
            <a:extLst>
              <a:ext uri="{FF2B5EF4-FFF2-40B4-BE49-F238E27FC236}">
                <a16:creationId xmlns:a16="http://schemas.microsoft.com/office/drawing/2014/main" id="{335740E9-9D87-BC07-53AA-F12B4A1EF466}"/>
              </a:ext>
            </a:extLst>
          </p:cNvPr>
          <p:cNvSpPr/>
          <p:nvPr/>
        </p:nvSpPr>
        <p:spPr>
          <a:xfrm>
            <a:off x="9390732" y="4660971"/>
            <a:ext cx="1261212" cy="785574"/>
          </a:xfrm>
          <a:prstGeom prst="wedgeRectCallout">
            <a:avLst>
              <a:gd name="adj1" fmla="val 57251"/>
              <a:gd name="adj2" fmla="val -6609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ja-JP" sz="1050" dirty="0" err="1"/>
              <a:t>b</a:t>
            </a:r>
            <a:r>
              <a:rPr kumimoji="1" lang="en-US" altLang="ja-JP" sz="1050" dirty="0" err="1"/>
              <a:t>t_</a:t>
            </a:r>
            <a:r>
              <a:rPr lang="en-US" altLang="ja-JP" sz="1050" dirty="0" err="1"/>
              <a:t>yaw_coeffUp</a:t>
            </a:r>
            <a:endParaRPr kumimoji="1" lang="en-US" altLang="ja-JP" sz="1050" dirty="0"/>
          </a:p>
          <a:p>
            <a:pPr algn="ctr"/>
            <a:r>
              <a:rPr lang="en-US" altLang="ja-JP" sz="1050" dirty="0"/>
              <a:t>31</a:t>
            </a:r>
          </a:p>
          <a:p>
            <a:pPr algn="ctr"/>
            <a:r>
              <a:rPr lang="ja-JP" altLang="en-US" sz="1050" dirty="0"/>
              <a:t>ヨー係数</a:t>
            </a:r>
            <a:r>
              <a:rPr lang="en-US" altLang="ja-JP" sz="1050" dirty="0"/>
              <a:t>+0.01</a:t>
            </a:r>
          </a:p>
          <a:p>
            <a:pPr algn="ctr"/>
            <a:r>
              <a:rPr lang="de-DE" altLang="ja-JP" sz="1050" dirty="0"/>
              <a:t>yaw_coeff+0.01</a:t>
            </a:r>
            <a:endParaRPr kumimoji="1" lang="ja-JP" altLang="en-US" sz="1050" dirty="0"/>
          </a:p>
        </p:txBody>
      </p:sp>
      <p:sp>
        <p:nvSpPr>
          <p:cNvPr id="65" name="吹き出し: 四角形 64">
            <a:extLst>
              <a:ext uri="{FF2B5EF4-FFF2-40B4-BE49-F238E27FC236}">
                <a16:creationId xmlns:a16="http://schemas.microsoft.com/office/drawing/2014/main" id="{977A3690-FB5A-3070-FB34-E153E1FD202E}"/>
              </a:ext>
            </a:extLst>
          </p:cNvPr>
          <p:cNvSpPr/>
          <p:nvPr/>
        </p:nvSpPr>
        <p:spPr>
          <a:xfrm>
            <a:off x="10937685" y="4660970"/>
            <a:ext cx="1466754" cy="785574"/>
          </a:xfrm>
          <a:prstGeom prst="wedgeRectCallout">
            <a:avLst>
              <a:gd name="adj1" fmla="val -12321"/>
              <a:gd name="adj2" fmla="val -63748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ja-JP" sz="1050" dirty="0" err="1"/>
              <a:t>b</a:t>
            </a:r>
            <a:r>
              <a:rPr kumimoji="1" lang="en-US" altLang="ja-JP" sz="1050" dirty="0" err="1"/>
              <a:t>t_</a:t>
            </a:r>
            <a:r>
              <a:rPr lang="en-US" altLang="ja-JP" sz="1050" dirty="0" err="1"/>
              <a:t>yaw_coeffDown</a:t>
            </a:r>
            <a:endParaRPr kumimoji="1" lang="en-US" altLang="ja-JP" sz="1050" dirty="0"/>
          </a:p>
          <a:p>
            <a:pPr algn="ctr"/>
            <a:r>
              <a:rPr lang="en-US" altLang="ja-JP" sz="1050" dirty="0"/>
              <a:t>32</a:t>
            </a:r>
          </a:p>
          <a:p>
            <a:pPr algn="ctr"/>
            <a:r>
              <a:rPr lang="ja-JP" altLang="en-US" sz="1050" dirty="0"/>
              <a:t>ヨー係数</a:t>
            </a:r>
            <a:r>
              <a:rPr lang="en-US" altLang="ja-JP" sz="1050" dirty="0"/>
              <a:t>-0.01</a:t>
            </a:r>
          </a:p>
          <a:p>
            <a:pPr algn="ctr"/>
            <a:r>
              <a:rPr lang="de-DE" altLang="ja-JP" sz="1050" dirty="0"/>
              <a:t>yaw_coeff-0.01</a:t>
            </a:r>
            <a:endParaRPr kumimoji="1" lang="ja-JP" altLang="en-US" sz="1050" dirty="0"/>
          </a:p>
        </p:txBody>
      </p:sp>
    </p:spTree>
    <p:extLst>
      <p:ext uri="{BB962C8B-B14F-4D97-AF65-F5344CB8AC3E}">
        <p14:creationId xmlns:p14="http://schemas.microsoft.com/office/powerpoint/2010/main" val="245420002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214</TotalTime>
  <Words>374</Words>
  <Application>Microsoft Office PowerPoint</Application>
  <PresentationFormat>ワイド画面</PresentationFormat>
  <Paragraphs>102</Paragraphs>
  <Slides>2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</vt:i4>
      </vt:variant>
    </vt:vector>
  </HeadingPairs>
  <TitlesOfParts>
    <vt:vector size="6" baseType="lpstr">
      <vt:lpstr>游ゴシック</vt:lpstr>
      <vt:lpstr>游ゴシック Light</vt:lpstr>
      <vt:lpstr>Arial</vt:lpstr>
      <vt:lpstr>Office テーマ</vt:lpstr>
      <vt:lpstr>Controller map ROBOBIKE</vt:lpstr>
      <vt:lpstr>PowerPoint プレゼンテーション</vt:lpstr>
    </vt:vector>
  </TitlesOfParts>
  <Company>株式会社エクサ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堀 扶</dc:creator>
  <cp:lastModifiedBy>堀 扶</cp:lastModifiedBy>
  <cp:revision>1</cp:revision>
  <dcterms:created xsi:type="dcterms:W3CDTF">2026-10-27T01:32:53Z</dcterms:created>
  <dcterms:modified xsi:type="dcterms:W3CDTF">2026-10-27T05:07:40Z</dcterms:modified>
</cp:coreProperties>
</file>